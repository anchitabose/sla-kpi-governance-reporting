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 %</c:v>
                </c:pt>
              </c:strCache>
            </c:strRef>
          </c:tx>
          <c:spPr>
            <a:solidFill>
              <a:srgbClr val="0B5D63"/>
            </a:solidFill>
            <a:ln w="38100" cap="flat">
              <a:solidFill>
                <a:srgbClr val="0B5D63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5D63"/>
              </a:solidFill>
              <a:ln w="9525" cap="flat">
                <a:solidFill>
                  <a:srgbClr val="0B5D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91.4</c:v>
                </c:pt>
                <c:pt idx="1">
                  <c:v>87.3</c:v>
                </c:pt>
                <c:pt idx="2">
                  <c:v>87</c:v>
                </c:pt>
                <c:pt idx="3">
                  <c:v>90.7</c:v>
                </c:pt>
                <c:pt idx="4">
                  <c:v>86.6</c:v>
                </c:pt>
                <c:pt idx="5">
                  <c:v>89.1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Aug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8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Compliance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solidFill>
              <a:srgbClr val="4C9F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Met SLA</c:v>
                  </c:pt>
                  <c:pt idx="1">
                    <c:v>Breached SLA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4.33</c:v>
                </c:pt>
                <c:pt idx="1">
                  <c:v>2.69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%</c:v>
                </c:pt>
              </c:strCache>
            </c:strRef>
          </c:tx>
          <c:spPr>
            <a:solidFill>
              <a:srgbClr val="0B5D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  <c:pt idx="3">
                    <c:v>P4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82.7</c:v>
                </c:pt>
                <c:pt idx="1">
                  <c:v>82.2</c:v>
                </c:pt>
                <c:pt idx="2">
                  <c:v>90.6</c:v>
                </c:pt>
                <c:pt idx="3">
                  <c:v>92.9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Change Failure Rate by Risk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Rate %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 Risk</c:v>
                  </c:pt>
                  <c:pt idx="1">
                    <c:v>Medium Risk</c:v>
                  </c:pt>
                  <c:pt idx="2">
                    <c:v>High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6.7</c:v>
                </c:pt>
                <c:pt idx="2">
                  <c:v>21.7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1B707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5D63"/>
        </a:solidFill>
        <a:ln>
          <a:noFill/>
        </a:ln>
        <a:effectLst/>
      </c:spPr>
    </c:plotArea>
    <c:plotVisOnly val="1"/>
    <c:dispBlanksAs val="span"/>
  </c:chart>
  <c:spPr>
    <a:solidFill>
      <a:srgbClr val="0B5D6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Service Governance &amp; Reporting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Governance Review — August 2026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  •  Change Management  •  Survey Management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Anchita  |  Data: Mar 2026 – Aug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governance health across Incident, Change, and Survey streams for the reporting period.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AF9F6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 below 90% target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73736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AF9F6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CSAT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73736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AF9F6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9F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Success Rate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of 250 changes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41080" y="173736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FAF9F6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108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455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 Logged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Aug 2026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1088136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E8E2D8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broadly healthy: change delivery and customer satisfaction are both strong. The one open gap is SLA compliance, sitting just under target — driven mainly by P1 (urgent) tickets, covered on the next slides.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Compliance Trend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– August 2026, against a 90% contractual target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8288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was the low point of the period at 86.6% — worth a root-cause review.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recovered to 89.1%, but remains 0.9 pts under target.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March and June crossed the 90% target 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 vs. SLA Outcome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CSAT score (1–5), split by whether the ticket met or breached SLA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BEF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920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-1.64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point drop when SLA is breached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8404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governance insight: SLA performance is not just a contractual metric — it directly drives customer satisfaction. Closing the current 1-point gap to the 90% target would be expected to meaningfully lift overall CSAT.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Compliance Breaks Down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by ticket priority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Compliance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1498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87.2%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Support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1498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14984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Support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149840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132320" y="384048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BEF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60920" y="39776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single spot: Network Support's P1 compliance sits at 76% — the lowest team/priority combination on the full dashboard, despite the team's other priorities performing well.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Management &amp; Next Steps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78308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P1 staffing/training at Network Support — the single weakest compliance spot.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pre-implementation review gate for High-risk changes (21.7% failure vs. 1.8% for Low-risk).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root-cause review on July's SLA dip before it recurs.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this report to scheduled refresh once Power BI Service access is available.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Governance &amp; Reporting Suite  |  Anchita  |  Data: Mar–Aug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2026-09-08T19:03:52Z</dcterms:created>
  <dcterms:modified xsi:type="dcterms:W3CDTF">2026-09-08T19:03:52Z</dcterms:modified>
</cp:coreProperties>
</file>